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oboto Bold" charset="1" panose="02000000000000000000"/>
      <p:regular r:id="rId13"/>
    </p:embeddedFont>
    <p:embeddedFont>
      <p:font typeface="Inter Medium" charset="1" panose="02000503000000020004"/>
      <p:regular r:id="rId14"/>
    </p:embeddedFont>
    <p:embeddedFont>
      <p:font typeface="Arimo Bold" charset="1" panose="020B0704020202020204"/>
      <p:regular r:id="rId15"/>
    </p:embeddedFont>
    <p:embeddedFont>
      <p:font typeface="Roboto" charset="1" panose="02000000000000000000"/>
      <p:regular r:id="rId16"/>
    </p:embeddedFont>
    <p:embeddedFont>
      <p:font typeface="Inter Bold" charset="1" panose="020B0802030000000004"/>
      <p:regular r:id="rId17"/>
    </p:embeddedFont>
    <p:embeddedFont>
      <p:font typeface="Inter Semi-Bold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23" Target="../media/image8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jpeg" Type="http://schemas.openxmlformats.org/officeDocument/2006/relationships/image"/><Relationship Id="rId3" Target="../media/VAHXCj7q4EE.mp4" Type="http://schemas.openxmlformats.org/officeDocument/2006/relationships/video"/><Relationship Id="rId4" Target="../media/VAHXCj7q4EE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9851" y="1731640"/>
            <a:ext cx="7528939" cy="355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9150" spc="-272" b="true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Bat-ID catches it. </a:t>
            </a:r>
            <a:r>
              <a:rPr lang="en-US" sz="9150" spc="-272" b="true">
                <a:solidFill>
                  <a:srgbClr val="6B88F4"/>
                </a:solidFill>
                <a:latin typeface="Roboto Bold"/>
                <a:ea typeface="Roboto Bold"/>
                <a:cs typeface="Roboto Bold"/>
                <a:sym typeface="Roboto Bold"/>
              </a:rPr>
              <a:t>Can Sophie understand it?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051" y="5815457"/>
            <a:ext cx="2478339" cy="112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FAFAFA"/>
                </a:solidFill>
                <a:latin typeface="Inter Medium"/>
                <a:ea typeface="Inter Medium"/>
                <a:cs typeface="Inter Medium"/>
                <a:sym typeface="Inter Medium"/>
              </a:rPr>
              <a:t>A permit touching her parcel is published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736771" y="6186927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10024" y="5966065"/>
            <a:ext cx="1969299" cy="74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FAFAFA"/>
                </a:solidFill>
                <a:latin typeface="Inter Medium"/>
                <a:ea typeface="Inter Medium"/>
                <a:cs typeface="Inter Medium"/>
                <a:sym typeface="Inter Medium"/>
              </a:rPr>
              <a:t>Bat-ID spots it and alerts her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433747" y="6186927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52367" y="5966065"/>
            <a:ext cx="2066259" cy="74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FAFAFA"/>
                </a:solidFill>
                <a:latin typeface="Inter Medium"/>
                <a:ea typeface="Inter Medium"/>
                <a:cs typeface="Inter Medium"/>
                <a:sym typeface="Inter Medium"/>
              </a:rPr>
              <a:t>Does she get it in 5 seconds?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03881" y="7465969"/>
            <a:ext cx="3926670" cy="874559"/>
          </a:xfrm>
          <a:custGeom>
            <a:avLst/>
            <a:gdLst/>
            <a:ahLst/>
            <a:cxnLst/>
            <a:rect r="r" b="b" t="t" l="l"/>
            <a:pathLst>
              <a:path h="874559" w="3926670">
                <a:moveTo>
                  <a:pt x="0" y="0"/>
                </a:moveTo>
                <a:lnTo>
                  <a:pt x="3926670" y="0"/>
                </a:lnTo>
                <a:lnTo>
                  <a:pt x="392667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3341" y="7736502"/>
            <a:ext cx="2911850" cy="32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039" spc="-40" b="true">
                <a:solidFill>
                  <a:srgbClr val="A0B0DD"/>
                </a:solidFill>
                <a:latin typeface="Inter Medium"/>
                <a:ea typeface="Inter Medium"/>
                <a:cs typeface="Inter Medium"/>
                <a:sym typeface="Inter Medium"/>
              </a:rPr>
              <a:t>Bat-ID x Hack VS 2026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89965" y="8864403"/>
            <a:ext cx="3567355" cy="1564840"/>
          </a:xfrm>
          <a:custGeom>
            <a:avLst/>
            <a:gdLst/>
            <a:ahLst/>
            <a:cxnLst/>
            <a:rect r="r" b="b" t="t" l="l"/>
            <a:pathLst>
              <a:path h="1564840" w="3567355">
                <a:moveTo>
                  <a:pt x="0" y="0"/>
                </a:moveTo>
                <a:lnTo>
                  <a:pt x="3567355" y="0"/>
                </a:lnTo>
                <a:lnTo>
                  <a:pt x="3567355" y="1564841"/>
                </a:lnTo>
                <a:lnTo>
                  <a:pt x="0" y="15648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80715" y="0"/>
            <a:ext cx="3926670" cy="5367606"/>
          </a:xfrm>
          <a:custGeom>
            <a:avLst/>
            <a:gdLst/>
            <a:ahLst/>
            <a:cxnLst/>
            <a:rect r="r" b="b" t="t" l="l"/>
            <a:pathLst>
              <a:path h="5367606" w="3926670">
                <a:moveTo>
                  <a:pt x="0" y="0"/>
                </a:moveTo>
                <a:lnTo>
                  <a:pt x="3926670" y="0"/>
                </a:lnTo>
                <a:lnTo>
                  <a:pt x="392667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66581" y="634055"/>
            <a:ext cx="4582938" cy="9226597"/>
          </a:xfrm>
          <a:custGeom>
            <a:avLst/>
            <a:gdLst/>
            <a:ahLst/>
            <a:cxnLst/>
            <a:rect r="r" b="b" t="t" l="l"/>
            <a:pathLst>
              <a:path h="9226597" w="4582938">
                <a:moveTo>
                  <a:pt x="0" y="0"/>
                </a:moveTo>
                <a:lnTo>
                  <a:pt x="4582938" y="0"/>
                </a:lnTo>
                <a:lnTo>
                  <a:pt x="4582938" y="9226597"/>
                </a:lnTo>
                <a:lnTo>
                  <a:pt x="0" y="92265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 descr="New Bat-ID mobile home"/>
          <p:cNvSpPr/>
          <p:nvPr/>
        </p:nvSpPr>
        <p:spPr>
          <a:xfrm flipH="false" flipV="false" rot="0">
            <a:off x="12416160" y="1485900"/>
            <a:ext cx="3476625" cy="7534275"/>
          </a:xfrm>
          <a:custGeom>
            <a:avLst/>
            <a:gdLst/>
            <a:ahLst/>
            <a:cxnLst/>
            <a:rect r="r" b="b" t="t" l="l"/>
            <a:pathLst>
              <a:path h="7534275" w="3476625">
                <a:moveTo>
                  <a:pt x="0" y="0"/>
                </a:moveTo>
                <a:lnTo>
                  <a:pt x="3476625" y="0"/>
                </a:lnTo>
                <a:lnTo>
                  <a:pt x="3476625" y="7534275"/>
                </a:lnTo>
                <a:lnTo>
                  <a:pt x="0" y="7534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0" r="0" b="-2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36354" y="0"/>
            <a:ext cx="3051646" cy="2361309"/>
          </a:xfrm>
          <a:custGeom>
            <a:avLst/>
            <a:gdLst/>
            <a:ahLst/>
            <a:cxnLst/>
            <a:rect r="r" b="b" t="t" l="l"/>
            <a:pathLst>
              <a:path h="2361309" w="3051646">
                <a:moveTo>
                  <a:pt x="0" y="0"/>
                </a:moveTo>
                <a:lnTo>
                  <a:pt x="3051646" y="0"/>
                </a:lnTo>
                <a:lnTo>
                  <a:pt x="305164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428009"/>
            <a:ext cx="2614134" cy="1934962"/>
          </a:xfrm>
          <a:custGeom>
            <a:avLst/>
            <a:gdLst/>
            <a:ahLst/>
            <a:cxnLst/>
            <a:rect r="r" b="b" t="t" l="l"/>
            <a:pathLst>
              <a:path h="1934962" w="2614134">
                <a:moveTo>
                  <a:pt x="0" y="0"/>
                </a:moveTo>
                <a:lnTo>
                  <a:pt x="2614134" y="0"/>
                </a:lnTo>
                <a:lnTo>
                  <a:pt x="261413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5465" y="744949"/>
            <a:ext cx="12536279" cy="23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9357" spc="-233" b="true">
                <a:solidFill>
                  <a:srgbClr val="071B50"/>
                </a:solidFill>
                <a:latin typeface="Roboto Bold"/>
                <a:ea typeface="Roboto Bold"/>
                <a:cs typeface="Roboto Bold"/>
                <a:sym typeface="Roboto Bold"/>
              </a:rPr>
              <a:t>Owners who understand in 5 seconds, </a:t>
            </a:r>
            <a:r>
              <a:rPr lang="en-US" sz="9357" spc="-233" b="true">
                <a:solidFill>
                  <a:srgbClr val="6A8AF8"/>
                </a:solidFill>
                <a:latin typeface="Roboto Bold"/>
                <a:ea typeface="Roboto Bold"/>
                <a:cs typeface="Roboto Bold"/>
                <a:sym typeface="Roboto Bold"/>
              </a:rPr>
              <a:t>stay.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3918" y="4066699"/>
            <a:ext cx="5457962" cy="3651284"/>
          </a:xfrm>
          <a:custGeom>
            <a:avLst/>
            <a:gdLst/>
            <a:ahLst/>
            <a:cxnLst/>
            <a:rect r="r" b="b" t="t" l="l"/>
            <a:pathLst>
              <a:path h="3651284" w="5457962">
                <a:moveTo>
                  <a:pt x="0" y="0"/>
                </a:moveTo>
                <a:lnTo>
                  <a:pt x="5457961" y="0"/>
                </a:lnTo>
                <a:lnTo>
                  <a:pt x="5457961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09675" y="4953000"/>
            <a:ext cx="4762500" cy="117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39"/>
              </a:lnSpc>
              <a:spcBef>
                <a:spcPct val="0"/>
              </a:spcBef>
            </a:pPr>
            <a:r>
              <a:rPr lang="en-US" b="true" sz="9000" spc="-224" strike="noStrike" u="none">
                <a:solidFill>
                  <a:srgbClr val="6A8AF8"/>
                </a:solidFill>
                <a:latin typeface="Roboto Bold"/>
                <a:ea typeface="Roboto Bold"/>
                <a:cs typeface="Roboto Bold"/>
                <a:sym typeface="Roboto Bold"/>
              </a:rPr>
              <a:t>Free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2638" y="6431280"/>
            <a:ext cx="2879574" cy="41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1"/>
              </a:lnSpc>
              <a:spcBef>
                <a:spcPct val="0"/>
              </a:spcBef>
            </a:pPr>
            <a:r>
              <a:rPr lang="en-US" b="true" sz="3168" spc="-78" strike="noStrike" u="none">
                <a:solidFill>
                  <a:srgbClr val="071B50"/>
                </a:solidFill>
                <a:latin typeface="Roboto Bold"/>
                <a:ea typeface="Roboto Bold"/>
                <a:cs typeface="Roboto Bold"/>
                <a:sym typeface="Roboto Bold"/>
              </a:rPr>
              <a:t>Decouverte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529388" y="4066699"/>
            <a:ext cx="5228268" cy="3651284"/>
          </a:xfrm>
          <a:custGeom>
            <a:avLst/>
            <a:gdLst/>
            <a:ahLst/>
            <a:cxnLst/>
            <a:rect r="r" b="b" t="t" l="l"/>
            <a:pathLst>
              <a:path h="3651284" w="5228268">
                <a:moveTo>
                  <a:pt x="0" y="0"/>
                </a:moveTo>
                <a:lnTo>
                  <a:pt x="5228267" y="0"/>
                </a:lnTo>
                <a:lnTo>
                  <a:pt x="5228267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62750" y="4953000"/>
            <a:ext cx="4762500" cy="117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39"/>
              </a:lnSpc>
              <a:spcBef>
                <a:spcPct val="0"/>
              </a:spcBef>
            </a:pPr>
            <a:r>
              <a:rPr lang="en-US" b="true" sz="9000" spc="-224" strike="noStrike" u="none">
                <a:solidFill>
                  <a:srgbClr val="6A8AF8"/>
                </a:solidFill>
                <a:latin typeface="Roboto Bold"/>
                <a:ea typeface="Roboto Bold"/>
                <a:cs typeface="Roboto Bold"/>
                <a:sym typeface="Roboto Bold"/>
              </a:rPr>
              <a:t>Paid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79982" y="6431280"/>
            <a:ext cx="3114501" cy="41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1"/>
              </a:lnSpc>
              <a:spcBef>
                <a:spcPct val="0"/>
              </a:spcBef>
            </a:pPr>
            <a:r>
              <a:rPr lang="en-US" b="true" sz="3168" spc="-78" strike="noStrike" u="none">
                <a:solidFill>
                  <a:srgbClr val="071B50"/>
                </a:solidFill>
                <a:latin typeface="Roboto Bold"/>
                <a:ea typeface="Roboto Bold"/>
                <a:cs typeface="Roboto Bold"/>
                <a:sym typeface="Roboto Bold"/>
              </a:rPr>
              <a:t>Averti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966257" y="4066699"/>
            <a:ext cx="5239206" cy="3651284"/>
          </a:xfrm>
          <a:custGeom>
            <a:avLst/>
            <a:gdLst/>
            <a:ahLst/>
            <a:cxnLst/>
            <a:rect r="r" b="b" t="t" l="l"/>
            <a:pathLst>
              <a:path h="3651284" w="5239206">
                <a:moveTo>
                  <a:pt x="0" y="0"/>
                </a:moveTo>
                <a:lnTo>
                  <a:pt x="5239206" y="0"/>
                </a:lnTo>
                <a:lnTo>
                  <a:pt x="5239206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01525" y="4953000"/>
            <a:ext cx="4762500" cy="117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39"/>
              </a:lnSpc>
              <a:spcBef>
                <a:spcPct val="0"/>
              </a:spcBef>
            </a:pPr>
            <a:r>
              <a:rPr lang="en-US" b="true" sz="9000" spc="-224" strike="noStrike" u="none">
                <a:solidFill>
                  <a:srgbClr val="6A8AF8"/>
                </a:solidFill>
                <a:latin typeface="Roboto Bold"/>
                <a:ea typeface="Roboto Bold"/>
                <a:cs typeface="Roboto Bold"/>
                <a:sym typeface="Roboto Bold"/>
              </a:rPr>
              <a:t>All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27293" y="6431280"/>
            <a:ext cx="3696040" cy="41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1"/>
              </a:lnSpc>
              <a:spcBef>
                <a:spcPct val="0"/>
              </a:spcBef>
            </a:pPr>
            <a:r>
              <a:rPr lang="en-US" b="true" sz="3168" spc="-78" strike="noStrike" u="none">
                <a:solidFill>
                  <a:srgbClr val="071B50"/>
                </a:solidFill>
                <a:latin typeface="Roboto Bold"/>
                <a:ea typeface="Roboto Bold"/>
                <a:cs typeface="Roboto Bold"/>
                <a:sym typeface="Roboto Bold"/>
              </a:rPr>
              <a:t>features kept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90750" y="3619500"/>
            <a:ext cx="1333500" cy="476250"/>
            <a:chOff x="0" y="0"/>
            <a:chExt cx="1778000" cy="63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8000" cy="635000"/>
            </a:xfrm>
            <a:custGeom>
              <a:avLst/>
              <a:gdLst/>
              <a:ahLst/>
              <a:cxnLst/>
              <a:rect r="r" b="b" t="t" l="l"/>
              <a:pathLst>
                <a:path h="635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78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47750" y="9086850"/>
            <a:ext cx="16192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5B6B99"/>
                </a:solidFill>
                <a:latin typeface="Arimo Bold"/>
                <a:ea typeface="Arimo Bold"/>
                <a:cs typeface="Arimo Bold"/>
                <a:sym typeface="Arimo Bold"/>
              </a:rPr>
              <a:t>5 seconds = our target, inspired by the five-second test (Sova &amp; Nielsen, The UX Five-Second Rules, 2013). Not a measured result.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711687"/>
            <a:ext cx="4364182" cy="2579949"/>
          </a:xfrm>
          <a:custGeom>
            <a:avLst/>
            <a:gdLst/>
            <a:ahLst/>
            <a:cxnLst/>
            <a:rect r="r" b="b" t="t" l="l"/>
            <a:pathLst>
              <a:path h="2579949" w="4364182">
                <a:moveTo>
                  <a:pt x="0" y="0"/>
                </a:moveTo>
                <a:lnTo>
                  <a:pt x="4364182" y="0"/>
                </a:lnTo>
                <a:lnTo>
                  <a:pt x="4364182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92622" y="7707051"/>
            <a:ext cx="2395378" cy="2579949"/>
          </a:xfrm>
          <a:custGeom>
            <a:avLst/>
            <a:gdLst/>
            <a:ahLst/>
            <a:cxnLst/>
            <a:rect r="r" b="b" t="t" l="l"/>
            <a:pathLst>
              <a:path h="2579949" w="2395378">
                <a:moveTo>
                  <a:pt x="0" y="0"/>
                </a:moveTo>
                <a:lnTo>
                  <a:pt x="2395378" y="0"/>
                </a:lnTo>
                <a:lnTo>
                  <a:pt x="239537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2475" y="1533525"/>
            <a:ext cx="8382000" cy="108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44"/>
              </a:lnSpc>
              <a:spcBef>
                <a:spcPct val="0"/>
              </a:spcBef>
            </a:pPr>
            <a:r>
              <a:rPr lang="en-US" b="true" sz="7875" spc="-376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The challenge: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2475" y="2724150"/>
            <a:ext cx="8191500" cy="214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44"/>
              </a:lnSpc>
              <a:spcBef>
                <a:spcPct val="0"/>
              </a:spcBef>
            </a:pPr>
            <a:r>
              <a:rPr lang="en-US" b="true" sz="7875" spc="-376" strike="noStrike" u="none">
                <a:solidFill>
                  <a:srgbClr val="5F84ED"/>
                </a:solidFill>
                <a:latin typeface="Roboto Bold"/>
                <a:ea typeface="Roboto Bold"/>
                <a:cs typeface="Roboto Bold"/>
                <a:sym typeface="Roboto Bold"/>
              </a:rPr>
              <a:t>make the first minutes count.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70574" y="852695"/>
            <a:ext cx="3718852" cy="2798589"/>
          </a:xfrm>
          <a:custGeom>
            <a:avLst/>
            <a:gdLst/>
            <a:ahLst/>
            <a:cxnLst/>
            <a:rect r="r" b="b" t="t" l="l"/>
            <a:pathLst>
              <a:path h="2798589" w="3718852">
                <a:moveTo>
                  <a:pt x="0" y="0"/>
                </a:moveTo>
                <a:lnTo>
                  <a:pt x="3718852" y="0"/>
                </a:lnTo>
                <a:lnTo>
                  <a:pt x="371885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95925" y="1775922"/>
            <a:ext cx="2558025" cy="85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-82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Fewer drop-offs</a:t>
            </a:r>
          </a:p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-82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in first uses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278488" y="852695"/>
            <a:ext cx="3926670" cy="2798589"/>
          </a:xfrm>
          <a:custGeom>
            <a:avLst/>
            <a:gdLst/>
            <a:ahLst/>
            <a:cxnLst/>
            <a:rect r="r" b="b" t="t" l="l"/>
            <a:pathLst>
              <a:path h="2798589" w="3926670">
                <a:moveTo>
                  <a:pt x="0" y="0"/>
                </a:moveTo>
                <a:lnTo>
                  <a:pt x="3926670" y="0"/>
                </a:lnTo>
                <a:lnTo>
                  <a:pt x="3926670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794803" y="1775922"/>
            <a:ext cx="2835323" cy="43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-82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Value seen fast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70574" y="3640352"/>
            <a:ext cx="3718852" cy="2798589"/>
          </a:xfrm>
          <a:custGeom>
            <a:avLst/>
            <a:gdLst/>
            <a:ahLst/>
            <a:cxnLst/>
            <a:rect r="r" b="b" t="t" l="l"/>
            <a:pathLst>
              <a:path h="2798589" w="3718852">
                <a:moveTo>
                  <a:pt x="0" y="0"/>
                </a:moveTo>
                <a:lnTo>
                  <a:pt x="3718852" y="0"/>
                </a:lnTo>
                <a:lnTo>
                  <a:pt x="371885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01153" y="4637482"/>
            <a:ext cx="1795642" cy="85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-82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A reason to</a:t>
            </a:r>
          </a:p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-82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come back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278488" y="3640352"/>
            <a:ext cx="3926670" cy="2798589"/>
          </a:xfrm>
          <a:custGeom>
            <a:avLst/>
            <a:gdLst/>
            <a:ahLst/>
            <a:cxnLst/>
            <a:rect r="r" b="b" t="t" l="l"/>
            <a:pathLst>
              <a:path h="2798589" w="3926670">
                <a:moveTo>
                  <a:pt x="0" y="0"/>
                </a:moveTo>
                <a:lnTo>
                  <a:pt x="3926670" y="0"/>
                </a:lnTo>
                <a:lnTo>
                  <a:pt x="392667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907988" y="4637482"/>
            <a:ext cx="2232500" cy="85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-82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Averti</a:t>
            </a:r>
          </a:p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-82" strike="noStrike" u="none">
                <a:solidFill>
                  <a:srgbClr val="061A53"/>
                </a:solidFill>
                <a:latin typeface="Roboto Bold"/>
                <a:ea typeface="Roboto Bold"/>
                <a:cs typeface="Roboto Bold"/>
                <a:sym typeface="Roboto Bold"/>
              </a:rPr>
              <a:t>made clear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16943" y="7529478"/>
            <a:ext cx="885423" cy="18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58"/>
              </a:lnSpc>
            </a:pPr>
            <a:r>
              <a:rPr lang="en-US" b="true" sz="12984" spc="-621">
                <a:solidFill>
                  <a:srgbClr val="5F84ED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64439" y="9120077"/>
            <a:ext cx="804896" cy="50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366" spc="-100">
                <a:solidFill>
                  <a:srgbClr val="061A53"/>
                </a:solidFill>
                <a:latin typeface="Roboto"/>
                <a:ea typeface="Roboto"/>
                <a:cs typeface="Roboto"/>
                <a:sym typeface="Roboto"/>
              </a:rPr>
              <a:t>tabs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873598" y="7499343"/>
            <a:ext cx="229694" cy="2361309"/>
          </a:xfrm>
          <a:custGeom>
            <a:avLst/>
            <a:gdLst/>
            <a:ahLst/>
            <a:cxnLst/>
            <a:rect r="r" b="b" t="t" l="l"/>
            <a:pathLst>
              <a:path h="2361309" w="229694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913445" y="7529478"/>
            <a:ext cx="1770845" cy="18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58"/>
              </a:lnSpc>
            </a:pPr>
            <a:r>
              <a:rPr lang="en-US" b="true" sz="12984" spc="-621">
                <a:solidFill>
                  <a:srgbClr val="5F84ED"/>
                </a:solidFill>
                <a:latin typeface="Roboto Bold"/>
                <a:ea typeface="Roboto Bold"/>
                <a:cs typeface="Roboto Bold"/>
                <a:sym typeface="Roboto Bold"/>
              </a:rPr>
              <a:t>56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12972" y="9120077"/>
            <a:ext cx="3151432" cy="50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366" spc="-100">
                <a:solidFill>
                  <a:srgbClr val="061A53"/>
                </a:solidFill>
                <a:latin typeface="Roboto"/>
                <a:ea typeface="Roboto"/>
                <a:cs typeface="Roboto"/>
                <a:sym typeface="Roboto"/>
              </a:rPr>
              <a:t>notification types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528440" y="7499343"/>
            <a:ext cx="229694" cy="2361309"/>
          </a:xfrm>
          <a:custGeom>
            <a:avLst/>
            <a:gdLst/>
            <a:ahLst/>
            <a:cxnLst/>
            <a:rect r="r" b="b" t="t" l="l"/>
            <a:pathLst>
              <a:path h="2361309" w="229694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545466" y="7529478"/>
            <a:ext cx="885423" cy="18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58"/>
              </a:lnSpc>
              <a:spcBef>
                <a:spcPct val="0"/>
              </a:spcBef>
            </a:pPr>
            <a:r>
              <a:rPr lang="en-US" b="true" sz="12984" spc="-621" strike="noStrike" u="none">
                <a:solidFill>
                  <a:srgbClr val="5F84ED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3950" y="9115425"/>
            <a:ext cx="2857500" cy="50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40"/>
              </a:lnSpc>
              <a:spcBef>
                <a:spcPct val="0"/>
              </a:spcBef>
            </a:pPr>
            <a:r>
              <a:rPr lang="en-US" sz="3366" spc="-100" strike="noStrike" u="none">
                <a:solidFill>
                  <a:srgbClr val="061A53"/>
                </a:solidFill>
                <a:latin typeface="Roboto"/>
                <a:ea typeface="Roboto"/>
                <a:cs typeface="Roboto"/>
                <a:sym typeface="Roboto"/>
              </a:rPr>
              <a:t>platforms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8842" y="0"/>
            <a:ext cx="3489158" cy="4503979"/>
          </a:xfrm>
          <a:custGeom>
            <a:avLst/>
            <a:gdLst/>
            <a:ahLst/>
            <a:cxnLst/>
            <a:rect r="r" b="b" t="t" l="l"/>
            <a:pathLst>
              <a:path h="4503979" w="3489158">
                <a:moveTo>
                  <a:pt x="0" y="0"/>
                </a:moveTo>
                <a:lnTo>
                  <a:pt x="3489158" y="0"/>
                </a:lnTo>
                <a:lnTo>
                  <a:pt x="348915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428009"/>
            <a:ext cx="5228268" cy="3858991"/>
          </a:xfrm>
          <a:custGeom>
            <a:avLst/>
            <a:gdLst/>
            <a:ahLst/>
            <a:cxnLst/>
            <a:rect r="r" b="b" t="t" l="l"/>
            <a:pathLst>
              <a:path h="3858991" w="5228268">
                <a:moveTo>
                  <a:pt x="0" y="0"/>
                </a:moveTo>
                <a:lnTo>
                  <a:pt x="5228268" y="0"/>
                </a:lnTo>
                <a:lnTo>
                  <a:pt x="5228268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76622" y="2142670"/>
            <a:ext cx="3051646" cy="863627"/>
          </a:xfrm>
          <a:custGeom>
            <a:avLst/>
            <a:gdLst/>
            <a:ahLst/>
            <a:cxnLst/>
            <a:rect r="r" b="b" t="t" l="l"/>
            <a:pathLst>
              <a:path h="863627" w="3051646">
                <a:moveTo>
                  <a:pt x="0" y="0"/>
                </a:moveTo>
                <a:lnTo>
                  <a:pt x="3051646" y="0"/>
                </a:lnTo>
                <a:lnTo>
                  <a:pt x="305164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92354" y="3421712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75196" y="3848060"/>
            <a:ext cx="667206" cy="229572"/>
          </a:xfrm>
          <a:custGeom>
            <a:avLst/>
            <a:gdLst/>
            <a:ahLst/>
            <a:cxnLst/>
            <a:rect r="r" b="b" t="t" l="l"/>
            <a:pathLst>
              <a:path h="229572" w="667206">
                <a:moveTo>
                  <a:pt x="0" y="0"/>
                </a:moveTo>
                <a:lnTo>
                  <a:pt x="667206" y="0"/>
                </a:lnTo>
                <a:lnTo>
                  <a:pt x="667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2708" y="3214004"/>
            <a:ext cx="4582938" cy="1289974"/>
          </a:xfrm>
          <a:custGeom>
            <a:avLst/>
            <a:gdLst/>
            <a:ahLst/>
            <a:cxnLst/>
            <a:rect r="r" b="b" t="t" l="l"/>
            <a:pathLst>
              <a:path h="1289974" w="4582938">
                <a:moveTo>
                  <a:pt x="0" y="0"/>
                </a:moveTo>
                <a:lnTo>
                  <a:pt x="4582938" y="0"/>
                </a:lnTo>
                <a:lnTo>
                  <a:pt x="458293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92354" y="4711687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75196" y="5138034"/>
            <a:ext cx="667206" cy="229572"/>
          </a:xfrm>
          <a:custGeom>
            <a:avLst/>
            <a:gdLst/>
            <a:ahLst/>
            <a:cxnLst/>
            <a:rect r="r" b="b" t="t" l="l"/>
            <a:pathLst>
              <a:path h="229572" w="667206">
                <a:moveTo>
                  <a:pt x="0" y="0"/>
                </a:moveTo>
                <a:lnTo>
                  <a:pt x="667206" y="0"/>
                </a:lnTo>
                <a:lnTo>
                  <a:pt x="667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12708" y="4711687"/>
            <a:ext cx="4582938" cy="1082267"/>
          </a:xfrm>
          <a:custGeom>
            <a:avLst/>
            <a:gdLst/>
            <a:ahLst/>
            <a:cxnLst/>
            <a:rect r="r" b="b" t="t" l="l"/>
            <a:pathLst>
              <a:path h="1082267" w="4582938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2354" y="5990729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75196" y="642800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12708" y="5990729"/>
            <a:ext cx="4582938" cy="1300906"/>
          </a:xfrm>
          <a:custGeom>
            <a:avLst/>
            <a:gdLst/>
            <a:ahLst/>
            <a:cxnLst/>
            <a:rect r="r" b="b" t="t" l="l"/>
            <a:pathLst>
              <a:path h="1300906" w="4582938">
                <a:moveTo>
                  <a:pt x="0" y="0"/>
                </a:moveTo>
                <a:lnTo>
                  <a:pt x="4582938" y="0"/>
                </a:lnTo>
                <a:lnTo>
                  <a:pt x="458293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92354" y="7499343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75196" y="7925691"/>
            <a:ext cx="667206" cy="218640"/>
          </a:xfrm>
          <a:custGeom>
            <a:avLst/>
            <a:gdLst/>
            <a:ahLst/>
            <a:cxnLst/>
            <a:rect r="r" b="b" t="t" l="l"/>
            <a:pathLst>
              <a:path h="218640" w="667206">
                <a:moveTo>
                  <a:pt x="0" y="0"/>
                </a:moveTo>
                <a:lnTo>
                  <a:pt x="667206" y="0"/>
                </a:lnTo>
                <a:lnTo>
                  <a:pt x="667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612708" y="7280704"/>
            <a:ext cx="4582938" cy="1300906"/>
          </a:xfrm>
          <a:custGeom>
            <a:avLst/>
            <a:gdLst/>
            <a:ahLst/>
            <a:cxnLst/>
            <a:rect r="r" b="b" t="t" l="l"/>
            <a:pathLst>
              <a:path h="1300906" w="4582938">
                <a:moveTo>
                  <a:pt x="0" y="0"/>
                </a:moveTo>
                <a:lnTo>
                  <a:pt x="4582938" y="0"/>
                </a:lnTo>
                <a:lnTo>
                  <a:pt x="458293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278488" y="2142670"/>
            <a:ext cx="3051646" cy="863627"/>
          </a:xfrm>
          <a:custGeom>
            <a:avLst/>
            <a:gdLst/>
            <a:ahLst/>
            <a:cxnLst/>
            <a:rect r="r" b="b" t="t" l="l"/>
            <a:pathLst>
              <a:path h="863627" w="3051646">
                <a:moveTo>
                  <a:pt x="0" y="0"/>
                </a:moveTo>
                <a:lnTo>
                  <a:pt x="3051646" y="0"/>
                </a:lnTo>
                <a:lnTo>
                  <a:pt x="305164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59732" y="2995365"/>
            <a:ext cx="3270402" cy="6438940"/>
          </a:xfrm>
          <a:custGeom>
            <a:avLst/>
            <a:gdLst/>
            <a:ahLst/>
            <a:cxnLst/>
            <a:rect r="r" b="b" t="t" l="l"/>
            <a:pathLst>
              <a:path h="6438940" w="3270402">
                <a:moveTo>
                  <a:pt x="0" y="0"/>
                </a:moveTo>
                <a:lnTo>
                  <a:pt x="3270402" y="0"/>
                </a:lnTo>
                <a:lnTo>
                  <a:pt x="327040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75196" y="8997026"/>
            <a:ext cx="3937608" cy="863627"/>
          </a:xfrm>
          <a:custGeom>
            <a:avLst/>
            <a:gdLst/>
            <a:ahLst/>
            <a:cxnLst/>
            <a:rect r="r" b="b" t="t" l="l"/>
            <a:pathLst>
              <a:path h="863627" w="3937608">
                <a:moveTo>
                  <a:pt x="0" y="0"/>
                </a:moveTo>
                <a:lnTo>
                  <a:pt x="3937608" y="0"/>
                </a:lnTo>
                <a:lnTo>
                  <a:pt x="393760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57868" y="737792"/>
            <a:ext cx="7259259" cy="125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spc="-278" b="true">
                <a:solidFill>
                  <a:srgbClr val="17173F"/>
                </a:solidFill>
                <a:latin typeface="Inter Bold"/>
                <a:ea typeface="Inter Bold"/>
                <a:cs typeface="Inter Bold"/>
                <a:sym typeface="Inter Bold"/>
              </a:rPr>
              <a:t>What we did.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68468" y="2452645"/>
            <a:ext cx="1759419" cy="27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spc="-60" b="true">
                <a:solidFill>
                  <a:srgbClr val="1717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Starting point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91927" y="3766938"/>
            <a:ext cx="2994093" cy="25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863" spc="-55" b="true">
                <a:solidFill>
                  <a:srgbClr val="1717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Dashboard page first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20204" y="5034563"/>
            <a:ext cx="323965" cy="5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b="true" sz="4170" spc="-124">
                <a:solidFill>
                  <a:srgbClr val="17173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74317" y="5152535"/>
            <a:ext cx="3561310" cy="25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863" spc="-55" b="true">
                <a:solidFill>
                  <a:srgbClr val="1717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Parcel details in “Biens”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15534" y="6420160"/>
            <a:ext cx="333305" cy="5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b="true" sz="4170" spc="-124">
                <a:solidFill>
                  <a:srgbClr val="17173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81473" y="6523072"/>
            <a:ext cx="2845712" cy="25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863" spc="-55" b="true">
                <a:solidFill>
                  <a:srgbClr val="1717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Essentiel or Detaille mode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06728" y="7775636"/>
            <a:ext cx="350918" cy="5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b="true" sz="4170" spc="-124">
                <a:solidFill>
                  <a:srgbClr val="17173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81428" y="7892939"/>
            <a:ext cx="2850181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57" b="true">
                <a:solidFill>
                  <a:srgbClr val="1717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Map moved, not removed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06184" y="2452645"/>
            <a:ext cx="1697251" cy="27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spc="-60" b="true">
                <a:solidFill>
                  <a:srgbClr val="1717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Our proposal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70775" y="9245084"/>
            <a:ext cx="2484191" cy="27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039" spc="-60" b="true">
                <a:solidFill>
                  <a:srgbClr val="1717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Every feature kept.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75045" y="3664027"/>
            <a:ext cx="214285" cy="5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b="true" sz="4170" spc="-124">
                <a:solidFill>
                  <a:srgbClr val="17173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2155202" y="3006296"/>
            <a:ext cx="3270402" cy="6438940"/>
          </a:xfrm>
          <a:custGeom>
            <a:avLst/>
            <a:gdLst/>
            <a:ahLst/>
            <a:cxnLst/>
            <a:rect r="r" b="b" t="t" l="l"/>
            <a:pathLst>
              <a:path h="6438940" w="3270402">
                <a:moveTo>
                  <a:pt x="0" y="0"/>
                </a:moveTo>
                <a:lnTo>
                  <a:pt x="3270402" y="0"/>
                </a:lnTo>
                <a:lnTo>
                  <a:pt x="3270402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 descr="Original Bat-ID app home screen"/>
          <p:cNvSpPr/>
          <p:nvPr/>
        </p:nvSpPr>
        <p:spPr>
          <a:xfrm flipH="false" flipV="false" rot="0">
            <a:off x="2550330" y="3549024"/>
            <a:ext cx="2571750" cy="5779833"/>
          </a:xfrm>
          <a:custGeom>
            <a:avLst/>
            <a:gdLst/>
            <a:ahLst/>
            <a:cxnLst/>
            <a:rect r="r" b="b" t="t" l="l"/>
            <a:pathLst>
              <a:path h="5779833" w="2571750">
                <a:moveTo>
                  <a:pt x="0" y="0"/>
                </a:moveTo>
                <a:lnTo>
                  <a:pt x="2571750" y="0"/>
                </a:lnTo>
                <a:lnTo>
                  <a:pt x="2571750" y="5779833"/>
                </a:lnTo>
                <a:lnTo>
                  <a:pt x="0" y="577983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847" t="0" r="-1847" b="-31"/>
            </a:stretch>
          </a:blipFill>
        </p:spPr>
      </p:sp>
      <p:sp>
        <p:nvSpPr>
          <p:cNvPr name="Freeform 35" id="35" descr="Bat-ID mobile home"/>
          <p:cNvSpPr/>
          <p:nvPr/>
        </p:nvSpPr>
        <p:spPr>
          <a:xfrm flipH="false" flipV="false" rot="0">
            <a:off x="13506246" y="3545208"/>
            <a:ext cx="2585193" cy="5597505"/>
          </a:xfrm>
          <a:custGeom>
            <a:avLst/>
            <a:gdLst/>
            <a:ahLst/>
            <a:cxnLst/>
            <a:rect r="r" b="b" t="t" l="l"/>
            <a:pathLst>
              <a:path h="5597505" w="2585193">
                <a:moveTo>
                  <a:pt x="0" y="0"/>
                </a:moveTo>
                <a:lnTo>
                  <a:pt x="2585193" y="0"/>
                </a:lnTo>
                <a:lnTo>
                  <a:pt x="2585193" y="5597505"/>
                </a:lnTo>
                <a:lnTo>
                  <a:pt x="0" y="55975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-64" r="0" b="-6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3464" y="0"/>
            <a:ext cx="5884536" cy="7936623"/>
          </a:xfrm>
          <a:custGeom>
            <a:avLst/>
            <a:gdLst/>
            <a:ahLst/>
            <a:cxnLst/>
            <a:rect r="r" b="b" t="t" l="l"/>
            <a:pathLst>
              <a:path h="7936623" w="5884536">
                <a:moveTo>
                  <a:pt x="0" y="0"/>
                </a:moveTo>
                <a:lnTo>
                  <a:pt x="5884536" y="0"/>
                </a:lnTo>
                <a:lnTo>
                  <a:pt x="5884536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925691"/>
            <a:ext cx="3270402" cy="2361309"/>
          </a:xfrm>
          <a:custGeom>
            <a:avLst/>
            <a:gdLst/>
            <a:ahLst/>
            <a:cxnLst/>
            <a:rect r="r" b="b" t="t" l="l"/>
            <a:pathLst>
              <a:path h="2361309" w="3270402">
                <a:moveTo>
                  <a:pt x="0" y="0"/>
                </a:moveTo>
                <a:lnTo>
                  <a:pt x="3270402" y="0"/>
                </a:lnTo>
                <a:lnTo>
                  <a:pt x="327040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8976" y="1924030"/>
            <a:ext cx="10019024" cy="6657580"/>
          </a:xfrm>
          <a:custGeom>
            <a:avLst/>
            <a:gdLst/>
            <a:ahLst/>
            <a:cxnLst/>
            <a:rect r="r" b="b" t="t" l="l"/>
            <a:pathLst>
              <a:path h="6657580" w="10019024">
                <a:moveTo>
                  <a:pt x="0" y="0"/>
                </a:moveTo>
                <a:lnTo>
                  <a:pt x="10019024" y="0"/>
                </a:lnTo>
                <a:lnTo>
                  <a:pt x="10019024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29866" y="4066699"/>
            <a:ext cx="2614134" cy="5586245"/>
          </a:xfrm>
          <a:custGeom>
            <a:avLst/>
            <a:gdLst/>
            <a:ahLst/>
            <a:cxnLst/>
            <a:rect r="r" b="b" t="t" l="l"/>
            <a:pathLst>
              <a:path h="5586245" w="2614134">
                <a:moveTo>
                  <a:pt x="0" y="0"/>
                </a:moveTo>
                <a:lnTo>
                  <a:pt x="2614134" y="0"/>
                </a:lnTo>
                <a:lnTo>
                  <a:pt x="2614134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9959" y="1540143"/>
            <a:ext cx="6050153" cy="121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68"/>
              </a:lnSpc>
              <a:spcBef>
                <a:spcPct val="0"/>
              </a:spcBef>
            </a:pPr>
            <a:r>
              <a:rPr lang="en-US" b="true" sz="8519" spc="-253" strike="noStrike" u="none">
                <a:solidFill>
                  <a:srgbClr val="051B50"/>
                </a:solidFill>
                <a:latin typeface="Roboto Bold"/>
                <a:ea typeface="Roboto Bold"/>
                <a:cs typeface="Roboto Bold"/>
                <a:sym typeface="Roboto Bold"/>
              </a:rPr>
              <a:t>One logic.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265" y="2735243"/>
            <a:ext cx="7219583" cy="114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sz="8046" spc="-239" b="true">
                <a:solidFill>
                  <a:srgbClr val="648BF6"/>
                </a:solidFill>
                <a:latin typeface="Roboto Bold"/>
                <a:ea typeface="Roboto Bold"/>
                <a:cs typeface="Roboto Bold"/>
                <a:sym typeface="Roboto Bold"/>
              </a:rPr>
              <a:t>Mobile and web.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088" y="4893516"/>
            <a:ext cx="3737248" cy="9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92" b="true">
                <a:solidFill>
                  <a:srgbClr val="648BF6"/>
                </a:solidFill>
                <a:latin typeface="Roboto Bold"/>
                <a:ea typeface="Roboto Bold"/>
                <a:cs typeface="Roboto Bold"/>
                <a:sym typeface="Roboto Bold"/>
              </a:rPr>
              <a:t>Mobile:</a:t>
            </a:r>
            <a:r>
              <a:rPr lang="en-US" sz="3102" spc="-92">
                <a:solidFill>
                  <a:srgbClr val="051B50"/>
                </a:solidFill>
                <a:latin typeface="Roboto"/>
                <a:ea typeface="Roboto"/>
                <a:cs typeface="Roboto"/>
                <a:sym typeface="Roboto"/>
              </a:rPr>
              <a:t> the essentials at a glance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4728" y="6474905"/>
            <a:ext cx="2573340" cy="9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92" b="true">
                <a:solidFill>
                  <a:srgbClr val="648BF6"/>
                </a:solidFill>
                <a:latin typeface="Roboto Bold"/>
                <a:ea typeface="Roboto Bold"/>
                <a:cs typeface="Roboto Bold"/>
                <a:sym typeface="Roboto Bold"/>
              </a:rPr>
              <a:t>Web:</a:t>
            </a:r>
            <a:r>
              <a:rPr lang="en-US" sz="3102" spc="-92">
                <a:solidFill>
                  <a:srgbClr val="051B50"/>
                </a:solidFill>
                <a:latin typeface="Roboto"/>
                <a:ea typeface="Roboto"/>
                <a:cs typeface="Roboto"/>
                <a:sym typeface="Roboto"/>
              </a:rPr>
              <a:t> full detail,</a:t>
            </a:r>
          </a:p>
          <a:p>
            <a:pPr algn="l">
              <a:lnSpc>
                <a:spcPts val="3723"/>
              </a:lnSpc>
            </a:pPr>
            <a:r>
              <a:rPr lang="en-US" sz="3102" spc="-92">
                <a:solidFill>
                  <a:srgbClr val="051B50"/>
                </a:solidFill>
                <a:latin typeface="Roboto"/>
                <a:ea typeface="Roboto"/>
                <a:cs typeface="Roboto"/>
                <a:sym typeface="Roboto"/>
              </a:rPr>
              <a:t>more depth</a:t>
            </a:r>
          </a:p>
        </p:txBody>
      </p:sp>
      <p:sp>
        <p:nvSpPr>
          <p:cNvPr name="Freeform 11" id="11" descr="Bat-ID web dashboard, desktop"/>
          <p:cNvSpPr/>
          <p:nvPr/>
        </p:nvSpPr>
        <p:spPr>
          <a:xfrm flipH="false" flipV="false" rot="0">
            <a:off x="9144000" y="2381250"/>
            <a:ext cx="8048625" cy="5334000"/>
          </a:xfrm>
          <a:custGeom>
            <a:avLst/>
            <a:gdLst/>
            <a:ahLst/>
            <a:cxnLst/>
            <a:rect r="r" b="b" t="t" l="l"/>
            <a:pathLst>
              <a:path h="5334000" w="8048625">
                <a:moveTo>
                  <a:pt x="0" y="0"/>
                </a:moveTo>
                <a:lnTo>
                  <a:pt x="8048625" y="0"/>
                </a:lnTo>
                <a:lnTo>
                  <a:pt x="8048625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566" r="0" b="-3566"/>
            </a:stretch>
          </a:blipFill>
        </p:spPr>
      </p:sp>
      <p:sp>
        <p:nvSpPr>
          <p:cNvPr name="Freeform 12" id="12" descr="Bat-ID mobile home"/>
          <p:cNvSpPr/>
          <p:nvPr/>
        </p:nvSpPr>
        <p:spPr>
          <a:xfrm flipH="false" flipV="false" rot="0">
            <a:off x="6734175" y="4476750"/>
            <a:ext cx="2190750" cy="4743450"/>
          </a:xfrm>
          <a:custGeom>
            <a:avLst/>
            <a:gdLst/>
            <a:ahLst/>
            <a:cxnLst/>
            <a:rect r="r" b="b" t="t" l="l"/>
            <a:pathLst>
              <a:path h="4743450" w="2190750">
                <a:moveTo>
                  <a:pt x="0" y="0"/>
                </a:moveTo>
                <a:lnTo>
                  <a:pt x="2190750" y="0"/>
                </a:lnTo>
                <a:lnTo>
                  <a:pt x="2190750" y="4743450"/>
                </a:lnTo>
                <a:lnTo>
                  <a:pt x="0" y="4743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4" r="0" b="-64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6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38149" y="4334450"/>
            <a:ext cx="3843901" cy="2989701"/>
            <a:chOff x="0" y="0"/>
            <a:chExt cx="5715000" cy="444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5715000">
                  <a:moveTo>
                    <a:pt x="201408" y="0"/>
                  </a:moveTo>
                  <a:lnTo>
                    <a:pt x="5513592" y="0"/>
                  </a:lnTo>
                  <a:cubicBezTo>
                    <a:pt x="5567009" y="0"/>
                    <a:pt x="5618238" y="21220"/>
                    <a:pt x="5656009" y="58991"/>
                  </a:cubicBezTo>
                  <a:cubicBezTo>
                    <a:pt x="5693780" y="96762"/>
                    <a:pt x="5715000" y="147991"/>
                    <a:pt x="5715000" y="201408"/>
                  </a:cubicBezTo>
                  <a:lnTo>
                    <a:pt x="5715000" y="4243592"/>
                  </a:lnTo>
                  <a:cubicBezTo>
                    <a:pt x="5715000" y="4297009"/>
                    <a:pt x="5693780" y="4348238"/>
                    <a:pt x="5656009" y="4386009"/>
                  </a:cubicBezTo>
                  <a:cubicBezTo>
                    <a:pt x="5618238" y="4423780"/>
                    <a:pt x="5567009" y="4445000"/>
                    <a:pt x="5513592" y="4445000"/>
                  </a:cubicBezTo>
                  <a:lnTo>
                    <a:pt x="201408" y="4445000"/>
                  </a:lnTo>
                  <a:cubicBezTo>
                    <a:pt x="147991" y="4445000"/>
                    <a:pt x="96762" y="4423780"/>
                    <a:pt x="58991" y="4386009"/>
                  </a:cubicBezTo>
                  <a:cubicBezTo>
                    <a:pt x="21220" y="4348238"/>
                    <a:pt x="0" y="4297009"/>
                    <a:pt x="0" y="4243592"/>
                  </a:cubicBezTo>
                  <a:lnTo>
                    <a:pt x="0" y="201408"/>
                  </a:lnTo>
                  <a:cubicBezTo>
                    <a:pt x="0" y="147991"/>
                    <a:pt x="21220" y="96762"/>
                    <a:pt x="58991" y="58991"/>
                  </a:cubicBezTo>
                  <a:cubicBezTo>
                    <a:pt x="96762" y="21220"/>
                    <a:pt x="147991" y="0"/>
                    <a:pt x="201408" y="0"/>
                  </a:cubicBezTo>
                  <a:close/>
                </a:path>
              </a:pathLst>
            </a:custGeom>
            <a:solidFill>
              <a:srgbClr val="3A5BD0">
                <a:alpha val="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15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19599" y="4287399"/>
            <a:ext cx="3843901" cy="2989701"/>
            <a:chOff x="0" y="0"/>
            <a:chExt cx="5715000" cy="444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5715000">
                  <a:moveTo>
                    <a:pt x="201408" y="0"/>
                  </a:moveTo>
                  <a:lnTo>
                    <a:pt x="5513592" y="0"/>
                  </a:lnTo>
                  <a:cubicBezTo>
                    <a:pt x="5567009" y="0"/>
                    <a:pt x="5618238" y="21220"/>
                    <a:pt x="5656009" y="58991"/>
                  </a:cubicBezTo>
                  <a:cubicBezTo>
                    <a:pt x="5693780" y="96762"/>
                    <a:pt x="5715000" y="147991"/>
                    <a:pt x="5715000" y="201408"/>
                  </a:cubicBezTo>
                  <a:lnTo>
                    <a:pt x="5715000" y="4243592"/>
                  </a:lnTo>
                  <a:cubicBezTo>
                    <a:pt x="5715000" y="4297009"/>
                    <a:pt x="5693780" y="4348238"/>
                    <a:pt x="5656009" y="4386009"/>
                  </a:cubicBezTo>
                  <a:cubicBezTo>
                    <a:pt x="5618238" y="4423780"/>
                    <a:pt x="5567009" y="4445000"/>
                    <a:pt x="5513592" y="4445000"/>
                  </a:cubicBezTo>
                  <a:lnTo>
                    <a:pt x="201408" y="4445000"/>
                  </a:lnTo>
                  <a:cubicBezTo>
                    <a:pt x="147991" y="4445000"/>
                    <a:pt x="96762" y="4423780"/>
                    <a:pt x="58991" y="4386009"/>
                  </a:cubicBezTo>
                  <a:cubicBezTo>
                    <a:pt x="21220" y="4348238"/>
                    <a:pt x="0" y="4297009"/>
                    <a:pt x="0" y="4243592"/>
                  </a:cubicBezTo>
                  <a:lnTo>
                    <a:pt x="0" y="201408"/>
                  </a:lnTo>
                  <a:cubicBezTo>
                    <a:pt x="0" y="147991"/>
                    <a:pt x="21220" y="96762"/>
                    <a:pt x="58991" y="58991"/>
                  </a:cubicBezTo>
                  <a:cubicBezTo>
                    <a:pt x="96762" y="21220"/>
                    <a:pt x="147991" y="0"/>
                    <a:pt x="201408" y="0"/>
                  </a:cubicBezTo>
                  <a:close/>
                </a:path>
              </a:pathLst>
            </a:custGeom>
            <a:solidFill>
              <a:srgbClr val="3A5BD0">
                <a:alpha val="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715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0" y="4334450"/>
            <a:ext cx="3843901" cy="2989701"/>
            <a:chOff x="0" y="0"/>
            <a:chExt cx="5715000" cy="444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5715000">
                  <a:moveTo>
                    <a:pt x="201408" y="0"/>
                  </a:moveTo>
                  <a:lnTo>
                    <a:pt x="5513592" y="0"/>
                  </a:lnTo>
                  <a:cubicBezTo>
                    <a:pt x="5567009" y="0"/>
                    <a:pt x="5618238" y="21220"/>
                    <a:pt x="5656009" y="58991"/>
                  </a:cubicBezTo>
                  <a:cubicBezTo>
                    <a:pt x="5693780" y="96762"/>
                    <a:pt x="5715000" y="147991"/>
                    <a:pt x="5715000" y="201408"/>
                  </a:cubicBezTo>
                  <a:lnTo>
                    <a:pt x="5715000" y="4243592"/>
                  </a:lnTo>
                  <a:cubicBezTo>
                    <a:pt x="5715000" y="4297009"/>
                    <a:pt x="5693780" y="4348238"/>
                    <a:pt x="5656009" y="4386009"/>
                  </a:cubicBezTo>
                  <a:cubicBezTo>
                    <a:pt x="5618238" y="4423780"/>
                    <a:pt x="5567009" y="4445000"/>
                    <a:pt x="5513592" y="4445000"/>
                  </a:cubicBezTo>
                  <a:lnTo>
                    <a:pt x="201408" y="4445000"/>
                  </a:lnTo>
                  <a:cubicBezTo>
                    <a:pt x="147991" y="4445000"/>
                    <a:pt x="96762" y="4423780"/>
                    <a:pt x="58991" y="4386009"/>
                  </a:cubicBezTo>
                  <a:cubicBezTo>
                    <a:pt x="21220" y="4348238"/>
                    <a:pt x="0" y="4297009"/>
                    <a:pt x="0" y="4243592"/>
                  </a:cubicBezTo>
                  <a:lnTo>
                    <a:pt x="0" y="201408"/>
                  </a:lnTo>
                  <a:cubicBezTo>
                    <a:pt x="0" y="147991"/>
                    <a:pt x="21220" y="96762"/>
                    <a:pt x="58991" y="58991"/>
                  </a:cubicBezTo>
                  <a:cubicBezTo>
                    <a:pt x="96762" y="21220"/>
                    <a:pt x="147991" y="0"/>
                    <a:pt x="201408" y="0"/>
                  </a:cubicBezTo>
                  <a:close/>
                </a:path>
              </a:pathLst>
            </a:custGeom>
            <a:solidFill>
              <a:srgbClr val="3A5BD0">
                <a:alpha val="392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715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05000" y="-1905000"/>
            <a:ext cx="22860000" cy="14287500"/>
            <a:chOff x="0" y="0"/>
            <a:chExt cx="30480000" cy="190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30480000">
                  <a:moveTo>
                    <a:pt x="0" y="0"/>
                  </a:moveTo>
                  <a:lnTo>
                    <a:pt x="30480000" y="0"/>
                  </a:lnTo>
                  <a:lnTo>
                    <a:pt x="30480000" y="19050000"/>
                  </a:lnTo>
                  <a:lnTo>
                    <a:pt x="0" y="19050000"/>
                  </a:lnTo>
                  <a:close/>
                </a:path>
              </a:pathLst>
            </a:custGeom>
            <a:solidFill>
              <a:srgbClr val="F3F4F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480000" cy="190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2399" y="4334450"/>
            <a:ext cx="3843901" cy="2989701"/>
            <a:chOff x="0" y="0"/>
            <a:chExt cx="5715000" cy="444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5715000">
                  <a:moveTo>
                    <a:pt x="201408" y="0"/>
                  </a:moveTo>
                  <a:lnTo>
                    <a:pt x="5513592" y="0"/>
                  </a:lnTo>
                  <a:cubicBezTo>
                    <a:pt x="5567009" y="0"/>
                    <a:pt x="5618238" y="21220"/>
                    <a:pt x="5656009" y="58991"/>
                  </a:cubicBezTo>
                  <a:cubicBezTo>
                    <a:pt x="5693780" y="96762"/>
                    <a:pt x="5715000" y="147991"/>
                    <a:pt x="5715000" y="201408"/>
                  </a:cubicBezTo>
                  <a:lnTo>
                    <a:pt x="5715000" y="4243592"/>
                  </a:lnTo>
                  <a:cubicBezTo>
                    <a:pt x="5715000" y="4297009"/>
                    <a:pt x="5693780" y="4348238"/>
                    <a:pt x="5656009" y="4386009"/>
                  </a:cubicBezTo>
                  <a:cubicBezTo>
                    <a:pt x="5618238" y="4423780"/>
                    <a:pt x="5567009" y="4445000"/>
                    <a:pt x="5513592" y="4445000"/>
                  </a:cubicBezTo>
                  <a:lnTo>
                    <a:pt x="201408" y="4445000"/>
                  </a:lnTo>
                  <a:cubicBezTo>
                    <a:pt x="147991" y="4445000"/>
                    <a:pt x="96762" y="4423780"/>
                    <a:pt x="58991" y="4386009"/>
                  </a:cubicBezTo>
                  <a:cubicBezTo>
                    <a:pt x="21220" y="4348238"/>
                    <a:pt x="0" y="4297009"/>
                    <a:pt x="0" y="4243592"/>
                  </a:cubicBezTo>
                  <a:lnTo>
                    <a:pt x="0" y="201408"/>
                  </a:lnTo>
                  <a:cubicBezTo>
                    <a:pt x="0" y="147991"/>
                    <a:pt x="21220" y="96762"/>
                    <a:pt x="58991" y="58991"/>
                  </a:cubicBezTo>
                  <a:cubicBezTo>
                    <a:pt x="96762" y="21220"/>
                    <a:pt x="147991" y="0"/>
                    <a:pt x="201408" y="0"/>
                  </a:cubicBezTo>
                  <a:close/>
                </a:path>
              </a:pathLst>
            </a:custGeom>
            <a:solidFill>
              <a:srgbClr val="3A5BD0">
                <a:alpha val="392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15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811250" y="-1905000"/>
            <a:ext cx="6667500" cy="6667500"/>
            <a:chOff x="0" y="0"/>
            <a:chExt cx="8890000" cy="889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4445000" y="0"/>
                  </a:moveTo>
                  <a:cubicBezTo>
                    <a:pt x="6899905" y="0"/>
                    <a:pt x="8890000" y="1990094"/>
                    <a:pt x="8890000" y="4445000"/>
                  </a:cubicBezTo>
                  <a:cubicBezTo>
                    <a:pt x="8890000" y="6899905"/>
                    <a:pt x="6899905" y="8890000"/>
                    <a:pt x="4445000" y="8890000"/>
                  </a:cubicBezTo>
                  <a:cubicBezTo>
                    <a:pt x="1990094" y="8890000"/>
                    <a:pt x="0" y="6899905"/>
                    <a:pt x="0" y="4445000"/>
                  </a:cubicBezTo>
                  <a:cubicBezTo>
                    <a:pt x="0" y="1990094"/>
                    <a:pt x="1990094" y="0"/>
                    <a:pt x="4445000" y="0"/>
                  </a:cubicBezTo>
                  <a:close/>
                </a:path>
              </a:pathLst>
            </a:custGeom>
            <a:solidFill>
              <a:srgbClr val="DCE3F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89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47750" y="790575"/>
            <a:ext cx="142875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8250" b="true">
                <a:solidFill>
                  <a:srgbClr val="071B50"/>
                </a:solidFill>
                <a:latin typeface="Arimo Bold"/>
                <a:ea typeface="Arimo Bold"/>
                <a:cs typeface="Arimo Bold"/>
                <a:sym typeface="Arimo Bold"/>
              </a:rPr>
              <a:t>The best fit for Bat-ID: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2028825"/>
            <a:ext cx="161925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0"/>
              </a:lnSpc>
              <a:spcBef>
                <a:spcPct val="0"/>
              </a:spcBef>
            </a:pPr>
            <a:r>
              <a:rPr lang="en-US" b="true" sz="8250" strike="noStrike" u="none">
                <a:solidFill>
                  <a:srgbClr val="5F84ED"/>
                </a:solidFill>
                <a:latin typeface="Arimo Bold"/>
                <a:ea typeface="Arimo Bold"/>
                <a:cs typeface="Arimo Bold"/>
                <a:sym typeface="Arimo Bold"/>
              </a:rPr>
              <a:t>smooth, safe, complete.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47750" y="4286250"/>
            <a:ext cx="3714750" cy="2762250"/>
            <a:chOff x="0" y="0"/>
            <a:chExt cx="4953000" cy="368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5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4953000">
                  <a:moveTo>
                    <a:pt x="130256" y="0"/>
                  </a:moveTo>
                  <a:lnTo>
                    <a:pt x="4822744" y="0"/>
                  </a:lnTo>
                  <a:cubicBezTo>
                    <a:pt x="4894682" y="0"/>
                    <a:pt x="4953000" y="58318"/>
                    <a:pt x="4953000" y="130256"/>
                  </a:cubicBezTo>
                  <a:lnTo>
                    <a:pt x="4953000" y="3552744"/>
                  </a:lnTo>
                  <a:cubicBezTo>
                    <a:pt x="4953000" y="3624682"/>
                    <a:pt x="4894682" y="3683000"/>
                    <a:pt x="4822744" y="3683000"/>
                  </a:cubicBezTo>
                  <a:lnTo>
                    <a:pt x="130256" y="3683000"/>
                  </a:lnTo>
                  <a:cubicBezTo>
                    <a:pt x="58318" y="3683000"/>
                    <a:pt x="0" y="3624682"/>
                    <a:pt x="0" y="3552744"/>
                  </a:cubicBezTo>
                  <a:lnTo>
                    <a:pt x="0" y="130256"/>
                  </a:lnTo>
                  <a:cubicBezTo>
                    <a:pt x="0" y="58318"/>
                    <a:pt x="58318" y="0"/>
                    <a:pt x="130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953000" cy="372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19099" y="4334450"/>
            <a:ext cx="3843901" cy="2989701"/>
            <a:chOff x="0" y="0"/>
            <a:chExt cx="5715000" cy="4445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5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5715000">
                  <a:moveTo>
                    <a:pt x="201408" y="0"/>
                  </a:moveTo>
                  <a:lnTo>
                    <a:pt x="5513592" y="0"/>
                  </a:lnTo>
                  <a:cubicBezTo>
                    <a:pt x="5567009" y="0"/>
                    <a:pt x="5618238" y="21220"/>
                    <a:pt x="5656009" y="58991"/>
                  </a:cubicBezTo>
                  <a:cubicBezTo>
                    <a:pt x="5693780" y="96762"/>
                    <a:pt x="5715000" y="147991"/>
                    <a:pt x="5715000" y="201408"/>
                  </a:cubicBezTo>
                  <a:lnTo>
                    <a:pt x="5715000" y="4243592"/>
                  </a:lnTo>
                  <a:cubicBezTo>
                    <a:pt x="5715000" y="4297009"/>
                    <a:pt x="5693780" y="4348238"/>
                    <a:pt x="5656009" y="4386009"/>
                  </a:cubicBezTo>
                  <a:cubicBezTo>
                    <a:pt x="5618238" y="4423780"/>
                    <a:pt x="5567009" y="4445000"/>
                    <a:pt x="5513592" y="4445000"/>
                  </a:cubicBezTo>
                  <a:lnTo>
                    <a:pt x="201408" y="4445000"/>
                  </a:lnTo>
                  <a:cubicBezTo>
                    <a:pt x="147991" y="4445000"/>
                    <a:pt x="96762" y="4423780"/>
                    <a:pt x="58991" y="4386009"/>
                  </a:cubicBezTo>
                  <a:cubicBezTo>
                    <a:pt x="21220" y="4348238"/>
                    <a:pt x="0" y="4297009"/>
                    <a:pt x="0" y="4243592"/>
                  </a:cubicBezTo>
                  <a:lnTo>
                    <a:pt x="0" y="201408"/>
                  </a:lnTo>
                  <a:cubicBezTo>
                    <a:pt x="0" y="147991"/>
                    <a:pt x="21220" y="96762"/>
                    <a:pt x="58991" y="58991"/>
                  </a:cubicBezTo>
                  <a:cubicBezTo>
                    <a:pt x="96762" y="21220"/>
                    <a:pt x="147991" y="0"/>
                    <a:pt x="201408" y="0"/>
                  </a:cubicBezTo>
                  <a:close/>
                </a:path>
              </a:pathLst>
            </a:custGeom>
            <a:solidFill>
              <a:srgbClr val="3A5BD0">
                <a:alpha val="3922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715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43500" y="4286250"/>
            <a:ext cx="3714750" cy="2762250"/>
            <a:chOff x="0" y="0"/>
            <a:chExt cx="4953000" cy="3683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5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4953000">
                  <a:moveTo>
                    <a:pt x="130256" y="0"/>
                  </a:moveTo>
                  <a:lnTo>
                    <a:pt x="4822744" y="0"/>
                  </a:lnTo>
                  <a:cubicBezTo>
                    <a:pt x="4894682" y="0"/>
                    <a:pt x="4953000" y="58318"/>
                    <a:pt x="4953000" y="130256"/>
                  </a:cubicBezTo>
                  <a:lnTo>
                    <a:pt x="4953000" y="3552744"/>
                  </a:lnTo>
                  <a:cubicBezTo>
                    <a:pt x="4953000" y="3624682"/>
                    <a:pt x="4894682" y="3683000"/>
                    <a:pt x="4822744" y="3683000"/>
                  </a:cubicBezTo>
                  <a:lnTo>
                    <a:pt x="130256" y="3683000"/>
                  </a:lnTo>
                  <a:cubicBezTo>
                    <a:pt x="58318" y="3683000"/>
                    <a:pt x="0" y="3624682"/>
                    <a:pt x="0" y="3552744"/>
                  </a:cubicBezTo>
                  <a:lnTo>
                    <a:pt x="0" y="130256"/>
                  </a:lnTo>
                  <a:cubicBezTo>
                    <a:pt x="0" y="58318"/>
                    <a:pt x="58318" y="0"/>
                    <a:pt x="130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53000" cy="372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29700" y="4334450"/>
            <a:ext cx="3843901" cy="2989701"/>
            <a:chOff x="0" y="0"/>
            <a:chExt cx="5715000" cy="4445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5715000">
                  <a:moveTo>
                    <a:pt x="201408" y="0"/>
                  </a:moveTo>
                  <a:lnTo>
                    <a:pt x="5513592" y="0"/>
                  </a:lnTo>
                  <a:cubicBezTo>
                    <a:pt x="5567009" y="0"/>
                    <a:pt x="5618238" y="21220"/>
                    <a:pt x="5656009" y="58991"/>
                  </a:cubicBezTo>
                  <a:cubicBezTo>
                    <a:pt x="5693780" y="96762"/>
                    <a:pt x="5715000" y="147991"/>
                    <a:pt x="5715000" y="201408"/>
                  </a:cubicBezTo>
                  <a:lnTo>
                    <a:pt x="5715000" y="4243592"/>
                  </a:lnTo>
                  <a:cubicBezTo>
                    <a:pt x="5715000" y="4297009"/>
                    <a:pt x="5693780" y="4348238"/>
                    <a:pt x="5656009" y="4386009"/>
                  </a:cubicBezTo>
                  <a:cubicBezTo>
                    <a:pt x="5618238" y="4423780"/>
                    <a:pt x="5567009" y="4445000"/>
                    <a:pt x="5513592" y="4445000"/>
                  </a:cubicBezTo>
                  <a:lnTo>
                    <a:pt x="201408" y="4445000"/>
                  </a:lnTo>
                  <a:cubicBezTo>
                    <a:pt x="147991" y="4445000"/>
                    <a:pt x="96762" y="4423780"/>
                    <a:pt x="58991" y="4386009"/>
                  </a:cubicBezTo>
                  <a:cubicBezTo>
                    <a:pt x="21220" y="4348238"/>
                    <a:pt x="0" y="4297009"/>
                    <a:pt x="0" y="4243592"/>
                  </a:cubicBezTo>
                  <a:lnTo>
                    <a:pt x="0" y="201408"/>
                  </a:lnTo>
                  <a:cubicBezTo>
                    <a:pt x="0" y="147991"/>
                    <a:pt x="21220" y="96762"/>
                    <a:pt x="58991" y="58991"/>
                  </a:cubicBezTo>
                  <a:cubicBezTo>
                    <a:pt x="96762" y="21220"/>
                    <a:pt x="147991" y="0"/>
                    <a:pt x="201408" y="0"/>
                  </a:cubicBezTo>
                  <a:close/>
                </a:path>
              </a:pathLst>
            </a:custGeom>
            <a:solidFill>
              <a:srgbClr val="3A5BD0">
                <a:alpha val="3922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715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39250" y="4286250"/>
            <a:ext cx="3714750" cy="2762250"/>
            <a:chOff x="0" y="0"/>
            <a:chExt cx="4953000" cy="3683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5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4953000">
                  <a:moveTo>
                    <a:pt x="130256" y="0"/>
                  </a:moveTo>
                  <a:lnTo>
                    <a:pt x="4822744" y="0"/>
                  </a:lnTo>
                  <a:cubicBezTo>
                    <a:pt x="4894682" y="0"/>
                    <a:pt x="4953000" y="58318"/>
                    <a:pt x="4953000" y="130256"/>
                  </a:cubicBezTo>
                  <a:lnTo>
                    <a:pt x="4953000" y="3552744"/>
                  </a:lnTo>
                  <a:cubicBezTo>
                    <a:pt x="4953000" y="3624682"/>
                    <a:pt x="4894682" y="3683000"/>
                    <a:pt x="4822744" y="3683000"/>
                  </a:cubicBezTo>
                  <a:lnTo>
                    <a:pt x="130256" y="3683000"/>
                  </a:lnTo>
                  <a:cubicBezTo>
                    <a:pt x="58318" y="3683000"/>
                    <a:pt x="0" y="3624682"/>
                    <a:pt x="0" y="3552744"/>
                  </a:cubicBezTo>
                  <a:lnTo>
                    <a:pt x="0" y="130256"/>
                  </a:lnTo>
                  <a:cubicBezTo>
                    <a:pt x="0" y="58318"/>
                    <a:pt x="58318" y="0"/>
                    <a:pt x="130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953000" cy="372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125450" y="4287399"/>
            <a:ext cx="3843901" cy="2989701"/>
            <a:chOff x="0" y="0"/>
            <a:chExt cx="5715000" cy="4445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15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5715000">
                  <a:moveTo>
                    <a:pt x="201408" y="0"/>
                  </a:moveTo>
                  <a:lnTo>
                    <a:pt x="5513592" y="0"/>
                  </a:lnTo>
                  <a:cubicBezTo>
                    <a:pt x="5567009" y="0"/>
                    <a:pt x="5618238" y="21220"/>
                    <a:pt x="5656009" y="58991"/>
                  </a:cubicBezTo>
                  <a:cubicBezTo>
                    <a:pt x="5693780" y="96762"/>
                    <a:pt x="5715000" y="147991"/>
                    <a:pt x="5715000" y="201408"/>
                  </a:cubicBezTo>
                  <a:lnTo>
                    <a:pt x="5715000" y="4243592"/>
                  </a:lnTo>
                  <a:cubicBezTo>
                    <a:pt x="5715000" y="4297009"/>
                    <a:pt x="5693780" y="4348238"/>
                    <a:pt x="5656009" y="4386009"/>
                  </a:cubicBezTo>
                  <a:cubicBezTo>
                    <a:pt x="5618238" y="4423780"/>
                    <a:pt x="5567009" y="4445000"/>
                    <a:pt x="5513592" y="4445000"/>
                  </a:cubicBezTo>
                  <a:lnTo>
                    <a:pt x="201408" y="4445000"/>
                  </a:lnTo>
                  <a:cubicBezTo>
                    <a:pt x="147991" y="4445000"/>
                    <a:pt x="96762" y="4423780"/>
                    <a:pt x="58991" y="4386009"/>
                  </a:cubicBezTo>
                  <a:cubicBezTo>
                    <a:pt x="21220" y="4348238"/>
                    <a:pt x="0" y="4297009"/>
                    <a:pt x="0" y="4243592"/>
                  </a:cubicBezTo>
                  <a:lnTo>
                    <a:pt x="0" y="201408"/>
                  </a:lnTo>
                  <a:cubicBezTo>
                    <a:pt x="0" y="147991"/>
                    <a:pt x="21220" y="96762"/>
                    <a:pt x="58991" y="58991"/>
                  </a:cubicBezTo>
                  <a:cubicBezTo>
                    <a:pt x="96762" y="21220"/>
                    <a:pt x="147991" y="0"/>
                    <a:pt x="201408" y="0"/>
                  </a:cubicBezTo>
                  <a:close/>
                </a:path>
              </a:pathLst>
            </a:custGeom>
            <a:solidFill>
              <a:srgbClr val="3A5BD0">
                <a:alpha val="3922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715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35000" y="4286250"/>
            <a:ext cx="3905250" cy="2762250"/>
            <a:chOff x="0" y="0"/>
            <a:chExt cx="5207000" cy="3683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07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5207000">
                  <a:moveTo>
                    <a:pt x="123902" y="0"/>
                  </a:moveTo>
                  <a:lnTo>
                    <a:pt x="5083097" y="0"/>
                  </a:lnTo>
                  <a:cubicBezTo>
                    <a:pt x="5115959" y="0"/>
                    <a:pt x="5147474" y="13054"/>
                    <a:pt x="5170710" y="36290"/>
                  </a:cubicBezTo>
                  <a:cubicBezTo>
                    <a:pt x="5193946" y="59526"/>
                    <a:pt x="5207000" y="91041"/>
                    <a:pt x="5207000" y="123902"/>
                  </a:cubicBezTo>
                  <a:lnTo>
                    <a:pt x="5207000" y="3559097"/>
                  </a:lnTo>
                  <a:cubicBezTo>
                    <a:pt x="5207000" y="3591959"/>
                    <a:pt x="5193946" y="3623474"/>
                    <a:pt x="5170710" y="3646710"/>
                  </a:cubicBezTo>
                  <a:cubicBezTo>
                    <a:pt x="5147474" y="3669946"/>
                    <a:pt x="5115959" y="3683000"/>
                    <a:pt x="5083097" y="3683000"/>
                  </a:cubicBezTo>
                  <a:lnTo>
                    <a:pt x="123902" y="3683000"/>
                  </a:lnTo>
                  <a:cubicBezTo>
                    <a:pt x="91041" y="3683000"/>
                    <a:pt x="59526" y="3669946"/>
                    <a:pt x="36290" y="3646710"/>
                  </a:cubicBezTo>
                  <a:cubicBezTo>
                    <a:pt x="13054" y="3623474"/>
                    <a:pt x="0" y="3591959"/>
                    <a:pt x="0" y="3559097"/>
                  </a:cubicBezTo>
                  <a:lnTo>
                    <a:pt x="0" y="123902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207000" cy="372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47750" y="4857750"/>
            <a:ext cx="37147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5F84ED"/>
                </a:solidFill>
                <a:latin typeface="Arimo Bold"/>
                <a:ea typeface="Arimo Bold"/>
                <a:cs typeface="Arimo Bold"/>
                <a:sym typeface="Arimo Bold"/>
              </a:rPr>
              <a:t>Smooth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8250" y="6124575"/>
            <a:ext cx="33337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71B50"/>
                </a:solidFill>
                <a:latin typeface="Arimo Bold"/>
                <a:ea typeface="Arimo Bold"/>
                <a:cs typeface="Arimo Bold"/>
                <a:sym typeface="Arimo Bold"/>
              </a:rPr>
              <a:t>Clear at a glance, fast to use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143500" y="4857750"/>
            <a:ext cx="37147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5F84ED"/>
                </a:solidFill>
                <a:latin typeface="Arimo Bold"/>
                <a:ea typeface="Arimo Bold"/>
                <a:cs typeface="Arimo Bold"/>
                <a:sym typeface="Arimo Bold"/>
              </a:rPr>
              <a:t>Safe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34000" y="6124575"/>
            <a:ext cx="33337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71B50"/>
                </a:solidFill>
                <a:latin typeface="Arimo Bold"/>
                <a:ea typeface="Arimo Bold"/>
                <a:cs typeface="Arimo Bold"/>
                <a:sym typeface="Arimo Bold"/>
              </a:rPr>
              <a:t>Every feature kept, no rebuild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239250" y="4857750"/>
            <a:ext cx="37147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5F84ED"/>
                </a:solidFill>
                <a:latin typeface="Arimo Bold"/>
                <a:ea typeface="Arimo Bold"/>
                <a:cs typeface="Arimo Bold"/>
                <a:sym typeface="Arimo Bold"/>
              </a:rPr>
              <a:t>Full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29750" y="6124575"/>
            <a:ext cx="33337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71B50"/>
                </a:solidFill>
                <a:latin typeface="Arimo Bold"/>
                <a:ea typeface="Arimo Bold"/>
                <a:cs typeface="Arimo Bold"/>
                <a:sym typeface="Arimo Bold"/>
              </a:rPr>
              <a:t>Key docs fast, all done in-app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35000" y="4857750"/>
            <a:ext cx="39052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5F84ED"/>
                </a:solidFill>
                <a:latin typeface="Arimo Bold"/>
                <a:ea typeface="Arimo Bold"/>
                <a:cs typeface="Arimo Bold"/>
                <a:sym typeface="Arimo Bold"/>
              </a:rPr>
              <a:t>2 in 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25500" y="6124575"/>
            <a:ext cx="33337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71B50"/>
                </a:solidFill>
                <a:latin typeface="Arimo Bold"/>
                <a:ea typeface="Arimo Bold"/>
                <a:cs typeface="Arimo Bold"/>
                <a:sym typeface="Arimo Bold"/>
              </a:rPr>
              <a:t>Mobile and web, one logic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7750" y="7562850"/>
            <a:ext cx="16192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071B50"/>
                </a:solidFill>
                <a:latin typeface="Arimo Bold"/>
                <a:ea typeface="Arimo Bold"/>
                <a:cs typeface="Arimo Bold"/>
                <a:sym typeface="Arimo Bold"/>
              </a:rPr>
              <a:t>Built, not just imagined: 147 screens · 52 components · 199 interactions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47750" y="8848725"/>
            <a:ext cx="6667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071B50"/>
                </a:solidFill>
                <a:latin typeface="Arimo Bold"/>
                <a:ea typeface="Arimo Bold"/>
                <a:cs typeface="Arimo Bold"/>
                <a:sym typeface="Arimo Bold"/>
              </a:rPr>
              <a:t>Thank you, Bat-ID team.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7750" y="9410700"/>
            <a:ext cx="666750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5F84ED"/>
                </a:solidFill>
                <a:latin typeface="Arimo Bold"/>
                <a:ea typeface="Arimo Bold"/>
                <a:cs typeface="Arimo Bold"/>
                <a:sym typeface="Arimo Bold"/>
              </a:rPr>
              <a:t>Les disciples de St.Mudry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287500" y="8810625"/>
            <a:ext cx="40005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true">
                <a:solidFill>
                  <a:srgbClr val="6A8AF8"/>
                </a:solidFill>
                <a:latin typeface="Arimo Bold"/>
                <a:ea typeface="Arimo Bold"/>
                <a:cs typeface="Arimo Bold"/>
                <a:sym typeface="Arimo Bold"/>
              </a:rPr>
              <a:t>Merci.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DAHXCni-zWE</dc:identifier>
  <dcterms:modified xsi:type="dcterms:W3CDTF">2011-08-01T06:04:30Z</dcterms:modified>
  <cp:revision>1</cp:revision>
  <dc:title>Bat-ID Hack VS Pitch</dc:title>
</cp:coreProperties>
</file>